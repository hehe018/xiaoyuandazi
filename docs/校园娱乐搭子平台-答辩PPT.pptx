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6.svg" ContentType="image/svg+xml"/>
  <Override PartName="/ppt/media/image65.svg" ContentType="image/svg+xml"/>
  <Override PartName="/ppt/media/image67.svg" ContentType="image/svg+xml"/>
  <Override PartName="/ppt/media/image70.svg" ContentType="image/svg+xml"/>
  <Override PartName="/ppt/media/image72.svg" ContentType="image/svg+xml"/>
  <Override PartName="/ppt/media/image74.svg" ContentType="image/svg+xml"/>
  <Override PartName="/ppt/media/image76.svg" ContentType="image/svg+xml"/>
  <Override PartName="/ppt/media/image78.svg" ContentType="image/svg+xml"/>
  <Override PartName="/ppt/media/image8.svg" ContentType="image/svg+xml"/>
  <Override PartName="/ppt/media/image80.svg" ContentType="image/svg+xml"/>
  <Override PartName="/ppt/media/image82.svg" ContentType="image/svg+xml"/>
  <Override PartName="/ppt/media/image84.svg" ContentType="image/svg+xml"/>
  <Override PartName="/ppt/media/image86.svg" ContentType="image/svg+xml"/>
  <Override PartName="/ppt/media/image8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各位老师好，我是刘秀娟，今天我的课程设计项目是校园娱乐搭子平台，下面我将从项目背景、架构设计、功能模块、数据库接口、系统测试、总结展望六个部分进行汇报。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本次汇报分为五大板块，首先介绍项目背景与目标，其次讲解整体架构与技术栈，再逐一展示核心业务模块，之后展示完整测试结果，最后总结项目收获与迭代方向。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介绍项目背景，平时同学们找同行伙伴大多依靠群聊，信息杂乱无筛选，且没有实名保障，存在安全隐患。因此我设计这款校内搭子小程序，实现组队、匹配、私信一体化，旨在解决这一痛点，同时也通过这个项目，全面提升我们的软件开发与实践能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本项目的目标是开发一个MVP版本的校园搭子平台。受实验条件限制，本项目简化了登录方式，仅支持3个测试学号，聊天采用轮询方案降低开发难度，整个项目由我独立完成，借助AI工具辅助写代码、整理文档。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系统采用行业主流前后端分离三层架构，技术选型贴合单人课程设计开发需求。后端框架稳定易调试，Uni-app无需学习多端语法；MySQL自带空间函数可以直接实现LBS附近搭子功能；安全方面集成三种工具分别处理登录、隐私数据、违规文本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后端按照业务拆分6个包，每个模块职责单一，便于后期修改维护；前端将聊天页面单独分包，减少首页加载压力。这种模块化的设计使得整个系统结构清晰，易于维护和扩展。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数据库设计四张核心表支撑全部业务，ER关系清晰。用户表存储用户信息，帖子表记录活动详情并支持LBS查询，申请表和消息表则分别处理组队和沟通逻辑。同时建立了多种索引来优化查询性能。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个核心模块是学号登录，前端限制学号只能输入数字，后端通过AES加密保存学号信息，不会泄露明文。系统仅识别预先录入的三组账号，其他陌生学号直接拒绝登录；登录凭证JWT有效期7天，过期自动拦截，保障访问安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核心功能是搭子广场和发布。广场页是用户进入App后的主界面，聚合了所有搭子信息，并支持分类筛选。用户可以点击发布按钮，填写活动详情来发起一个新的搭子邀约。系统会对发布内容进行敏感词过滤，并限制每日发帖数量，保证平台内容的健康和秩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个核心功能是附近搭子和组队。当用户允许获取位置后，系统会利用MySQL的空间函数，计算并展示附近的搭子活动。当用户找到感兴趣的活动并点击申请时，后端会通过乐观锁机制来确保不会出现报名人数超过上限的情况，保证了数据的一致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是私信交流模块。为了简化实现，MVP版本采用了HTTP轮询的方式来获取新消息。用户可以在会话列表中看到与其他用户的聊天记录，并且新消息会有红点提示。虽然轮询方式在性能上不是最优解，但它满足了基本的沟通需求。未来可以考虑升级为WebSocket以实现更高效的实时通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接下来，我将通过实际的小程序界面截图，向各位老师演示系统的主要功能流程。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这是个人中心和设置页面。个人中心是用户管理自己活动和社交关系的核心入口。而设置页面则提供了完善的账号管理功能，包括个人信息修改、安全设置等，确保用户对自己的数据有完全的控制权。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设计了多组测试用例，覆盖了所有核心模块。从测试结果来看，所有功能测试用例均通过。例如，我们验证了正确和错误的登录情况，测试了并发报名场景下的防超卖机制。测试过程中发现的5个轻微缺陷也都已全部修复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最后，对本次项目进行总结。我们成功完成了一个功能完整的MVP版本，实现了预期的业务闭环。通过这个项目，我不仅巩固了Spring Boot和Uni-app的开发技能，更重要的是，在解决跨域、并发等实际问题的过程中，提升了解决复杂工程问题的能力。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展望未来，这个项目还有很多可以优化和扩展的方向。功能上，可以引入微信登录和官方学号认证。性能上，可以升级通信方式并优化资源加载。体验上，可以加入个性化推荐和评价体系，让平台更加智能和完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我的汇报到此结束，感谢各位老师和同学的聆听。欢迎大家提问。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png"/><Relationship Id="rId8" Type="http://schemas.openxmlformats.org/officeDocument/2006/relationships/image" Target="../media/image20.svg"/><Relationship Id="rId7" Type="http://schemas.openxmlformats.org/officeDocument/2006/relationships/image" Target="../media/image19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2" Type="http://schemas.openxmlformats.org/officeDocument/2006/relationships/notesSlide" Target="../notesSlides/notesSlide4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22.svg"/><Relationship Id="rId1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png"/><Relationship Id="rId8" Type="http://schemas.openxmlformats.org/officeDocument/2006/relationships/image" Target="../media/image30.svg"/><Relationship Id="rId7" Type="http://schemas.openxmlformats.org/officeDocument/2006/relationships/image" Target="../media/image29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6" Type="http://schemas.openxmlformats.org/officeDocument/2006/relationships/notesSlide" Target="../notesSlides/notesSlide5.x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36.svg"/><Relationship Id="rId13" Type="http://schemas.openxmlformats.org/officeDocument/2006/relationships/image" Target="../media/image35.png"/><Relationship Id="rId12" Type="http://schemas.openxmlformats.org/officeDocument/2006/relationships/image" Target="../media/image34.svg"/><Relationship Id="rId11" Type="http://schemas.openxmlformats.org/officeDocument/2006/relationships/image" Target="../media/image33.png"/><Relationship Id="rId10" Type="http://schemas.openxmlformats.org/officeDocument/2006/relationships/image" Target="../media/image32.svg"/><Relationship Id="rId1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43.png"/><Relationship Id="rId8" Type="http://schemas.openxmlformats.org/officeDocument/2006/relationships/image" Target="../media/image42.svg"/><Relationship Id="rId7" Type="http://schemas.openxmlformats.org/officeDocument/2006/relationships/image" Target="../media/image41.png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16.svg"/><Relationship Id="rId3" Type="http://schemas.openxmlformats.org/officeDocument/2006/relationships/image" Target="../media/image15.png"/><Relationship Id="rId2" Type="http://schemas.openxmlformats.org/officeDocument/2006/relationships/image" Target="../media/image38.svg"/><Relationship Id="rId14" Type="http://schemas.openxmlformats.org/officeDocument/2006/relationships/notesSlide" Target="../notesSlides/notesSlide6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46.svg"/><Relationship Id="rId11" Type="http://schemas.openxmlformats.org/officeDocument/2006/relationships/image" Target="../media/image45.png"/><Relationship Id="rId10" Type="http://schemas.openxmlformats.org/officeDocument/2006/relationships/image" Target="../media/image44.svg"/><Relationship Id="rId1" Type="http://schemas.openxmlformats.org/officeDocument/2006/relationships/image" Target="../media/image37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1.png"/><Relationship Id="rId8" Type="http://schemas.openxmlformats.org/officeDocument/2006/relationships/image" Target="../media/image52.svg"/><Relationship Id="rId7" Type="http://schemas.openxmlformats.org/officeDocument/2006/relationships/image" Target="../media/image51.png"/><Relationship Id="rId6" Type="http://schemas.openxmlformats.org/officeDocument/2006/relationships/image" Target="../media/image50.svg"/><Relationship Id="rId5" Type="http://schemas.openxmlformats.org/officeDocument/2006/relationships/image" Target="../media/image49.png"/><Relationship Id="rId4" Type="http://schemas.openxmlformats.org/officeDocument/2006/relationships/image" Target="../media/image48.svg"/><Relationship Id="rId3" Type="http://schemas.openxmlformats.org/officeDocument/2006/relationships/image" Target="../media/image47.png"/><Relationship Id="rId2" Type="http://schemas.openxmlformats.org/officeDocument/2006/relationships/image" Target="../media/image2.svg"/><Relationship Id="rId16" Type="http://schemas.openxmlformats.org/officeDocument/2006/relationships/notesSlide" Target="../notesSlides/notesSlide7.x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56.svg"/><Relationship Id="rId13" Type="http://schemas.openxmlformats.org/officeDocument/2006/relationships/image" Target="../media/image55.png"/><Relationship Id="rId12" Type="http://schemas.openxmlformats.org/officeDocument/2006/relationships/image" Target="../media/image54.svg"/><Relationship Id="rId11" Type="http://schemas.openxmlformats.org/officeDocument/2006/relationships/image" Target="../media/image53.png"/><Relationship Id="rId10" Type="http://schemas.openxmlformats.org/officeDocument/2006/relationships/image" Target="../media/image42.sv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60.png"/><Relationship Id="rId1" Type="http://schemas.openxmlformats.org/officeDocument/2006/relationships/image" Target="../media/image5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71.png"/><Relationship Id="rId8" Type="http://schemas.openxmlformats.org/officeDocument/2006/relationships/image" Target="../media/image70.svg"/><Relationship Id="rId7" Type="http://schemas.openxmlformats.org/officeDocument/2006/relationships/image" Target="../media/image69.png"/><Relationship Id="rId6" Type="http://schemas.openxmlformats.org/officeDocument/2006/relationships/image" Target="../media/image68.png"/><Relationship Id="rId5" Type="http://schemas.openxmlformats.org/officeDocument/2006/relationships/image" Target="../media/image67.svg"/><Relationship Id="rId4" Type="http://schemas.openxmlformats.org/officeDocument/2006/relationships/image" Target="../media/image66.png"/><Relationship Id="rId3" Type="http://schemas.openxmlformats.org/officeDocument/2006/relationships/image" Target="../media/image65.svg"/><Relationship Id="rId2" Type="http://schemas.openxmlformats.org/officeDocument/2006/relationships/image" Target="../media/image64.png"/><Relationship Id="rId12" Type="http://schemas.openxmlformats.org/officeDocument/2006/relationships/notesSlide" Target="../notesSlides/notesSlide13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72.svg"/><Relationship Id="rId1" Type="http://schemas.openxmlformats.org/officeDocument/2006/relationships/image" Target="../media/image63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51.png"/><Relationship Id="rId8" Type="http://schemas.openxmlformats.org/officeDocument/2006/relationships/image" Target="../media/image10.svg"/><Relationship Id="rId7" Type="http://schemas.openxmlformats.org/officeDocument/2006/relationships/image" Target="../media/image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74.svg"/><Relationship Id="rId3" Type="http://schemas.openxmlformats.org/officeDocument/2006/relationships/image" Target="../media/image73.png"/><Relationship Id="rId2" Type="http://schemas.openxmlformats.org/officeDocument/2006/relationships/image" Target="../media/image2.svg"/><Relationship Id="rId14" Type="http://schemas.openxmlformats.org/officeDocument/2006/relationships/notesSlide" Target="../notesSlides/notesSlide14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36.svg"/><Relationship Id="rId11" Type="http://schemas.openxmlformats.org/officeDocument/2006/relationships/image" Target="../media/image35.png"/><Relationship Id="rId10" Type="http://schemas.openxmlformats.org/officeDocument/2006/relationships/image" Target="../media/image52.sv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41.png"/><Relationship Id="rId8" Type="http://schemas.openxmlformats.org/officeDocument/2006/relationships/image" Target="../media/image80.svg"/><Relationship Id="rId7" Type="http://schemas.openxmlformats.org/officeDocument/2006/relationships/image" Target="../media/image79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78.svg"/><Relationship Id="rId3" Type="http://schemas.openxmlformats.org/officeDocument/2006/relationships/image" Target="../media/image77.png"/><Relationship Id="rId2" Type="http://schemas.openxmlformats.org/officeDocument/2006/relationships/image" Target="../media/image76.svg"/><Relationship Id="rId16" Type="http://schemas.openxmlformats.org/officeDocument/2006/relationships/notesSlide" Target="../notesSlides/notesSlide15.x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84.svg"/><Relationship Id="rId13" Type="http://schemas.openxmlformats.org/officeDocument/2006/relationships/image" Target="../media/image83.png"/><Relationship Id="rId12" Type="http://schemas.openxmlformats.org/officeDocument/2006/relationships/image" Target="../media/image82.svg"/><Relationship Id="rId11" Type="http://schemas.openxmlformats.org/officeDocument/2006/relationships/image" Target="../media/image81.png"/><Relationship Id="rId10" Type="http://schemas.openxmlformats.org/officeDocument/2006/relationships/image" Target="../media/image42.svg"/><Relationship Id="rId1" Type="http://schemas.openxmlformats.org/officeDocument/2006/relationships/image" Target="../media/image7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6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88.svg"/><Relationship Id="rId5" Type="http://schemas.openxmlformats.org/officeDocument/2006/relationships/image" Target="../media/image87.png"/><Relationship Id="rId4" Type="http://schemas.openxmlformats.org/officeDocument/2006/relationships/image" Target="../media/image86.svg"/><Relationship Id="rId3" Type="http://schemas.openxmlformats.org/officeDocument/2006/relationships/image" Target="../media/image85.png"/><Relationship Id="rId2" Type="http://schemas.openxmlformats.org/officeDocument/2006/relationships/image" Target="../media/image42.svg"/><Relationship Id="rId1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144000" y="-762000"/>
            <a:ext cx="4064000" cy="4064000"/>
          </a:xfrm>
          <a:prstGeom prst="ellipse">
            <a:avLst/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414000" y="4318000"/>
            <a:ext cx="2540000" cy="2540000"/>
          </a:xfrm>
          <a:prstGeom prst="ellipse">
            <a:avLst/>
          </a:prstGeom>
          <a:solidFill>
            <a:srgbClr val="22C55E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6096000"/>
            <a:ext cx="12192000" cy="762000"/>
          </a:xfrm>
          <a:prstGeom prst="roundRect">
            <a:avLst>
              <a:gd name="adj" fmla="val 0"/>
            </a:avLst>
          </a:prstGeom>
          <a:solidFill>
            <a:srgbClr val="22C55E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2286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校园娱乐搭子平台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3556000"/>
            <a:ext cx="1016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5334000"/>
            <a:ext cx="3302000" cy="889000"/>
          </a:xfrm>
          <a:prstGeom prst="roundRect">
            <a:avLst>
              <a:gd name="adj" fmla="val 0"/>
            </a:avLst>
          </a:prstGeom>
          <a:solidFill>
            <a:srgbClr val="22C55E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6500" y="55118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651000" y="5461000"/>
            <a:ext cx="254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答辩人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刘秀娟</a:t>
            </a:r>
            <a:endParaRPr lang="en-US" sz="1600" b="1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0" name="Connector 10"/>
          <p:cNvCxnSpPr/>
          <p:nvPr/>
        </p:nvCxnSpPr>
        <p:spPr>
          <a:xfrm rot="5331254">
            <a:off x="4254500" y="5772213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4762500" y="5334000"/>
            <a:ext cx="3302000" cy="889000"/>
          </a:xfrm>
          <a:prstGeom prst="roundRect">
            <a:avLst>
              <a:gd name="adj" fmla="val 0"/>
            </a:avLst>
          </a:prstGeom>
          <a:solidFill>
            <a:srgbClr val="22C55E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3000" y="55118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397500" y="5461000"/>
            <a:ext cx="254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指导教师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钟云飞 老师</a:t>
            </a:r>
            <a:endParaRPr lang="en-US" sz="1600" b="1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4" name="Connector 14"/>
          <p:cNvCxnSpPr/>
          <p:nvPr/>
        </p:nvCxnSpPr>
        <p:spPr>
          <a:xfrm rot="5331254">
            <a:off x="7874000" y="5772213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8382000" y="5334000"/>
            <a:ext cx="3048000" cy="889000"/>
          </a:xfrm>
          <a:prstGeom prst="roundRect">
            <a:avLst>
              <a:gd name="adj" fmla="val 0"/>
            </a:avLst>
          </a:prstGeom>
          <a:solidFill>
            <a:srgbClr val="22C55E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72500" y="55118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9017000" y="5461000"/>
            <a:ext cx="228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答辩日期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2026年06月</a:t>
            </a:r>
            <a:endParaRPr lang="en-US" sz="1600" b="1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 CONTENTS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49530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76200" cy="1524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8415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905000" y="1905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项目概述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822">
            <a:off x="1016009" y="24701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5400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阐述项目的研究背景与现实意义，明确开发过程中的核心目标，梳理项目实施的关键限制条件与边界。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1651000"/>
            <a:ext cx="49530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223000" y="1651000"/>
            <a:ext cx="76200" cy="1524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477000" y="18415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366000" y="1905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系统设计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9822">
            <a:off x="6477009" y="24701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6477000" y="25400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完成系统总体架构搭建与技术栈选型，规划核心功能模块的逻辑关系，设计高效规范的数据库表结构。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3492500"/>
            <a:ext cx="49530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762000" y="3492500"/>
            <a:ext cx="76200" cy="1524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1016000" y="3683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905000" y="37465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核心功能设计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9822">
            <a:off x="1016009" y="43116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1016000" y="43815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阐述用户认证、搭子广场、附近搭子检索、组队申请处理及用户间私信交流等核心业务流程。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223000" y="3492500"/>
            <a:ext cx="49530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223000" y="3492500"/>
            <a:ext cx="76200" cy="1524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477000" y="3683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366000" y="37465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功能演示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9822">
            <a:off x="6477009" y="43116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6477000" y="43815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通过实际的小程序界面截图，直观展示系统的主要功能和用户交互流程。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62000" y="5270500"/>
            <a:ext cx="4953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762000" y="5270500"/>
            <a:ext cx="762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1016000" y="5461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22C55E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1905000" y="55245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系统测试</a:t>
            </a:r>
            <a:endParaRPr lang="en-US" sz="1100"/>
          </a:p>
        </p:txBody>
      </p:sp>
      <p:cxnSp>
        <p:nvCxnSpPr>
          <p:cNvPr id="31" name="Connector 31"/>
          <p:cNvCxnSpPr/>
          <p:nvPr/>
        </p:nvCxnSpPr>
        <p:spPr>
          <a:xfrm rot="-9822">
            <a:off x="1016009" y="60261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" name="AutoShape 32"/>
          <p:cNvSpPr/>
          <p:nvPr/>
        </p:nvSpPr>
        <p:spPr>
          <a:xfrm>
            <a:off x="1016000" y="6096000"/>
            <a:ext cx="444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从功能、性能、兼容性等维度开展系统测试，梳理核心测试用例，展示关键测试结果与问题修复情况。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6223000" y="5270500"/>
            <a:ext cx="4953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6223000" y="5270500"/>
            <a:ext cx="762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6477000" y="5461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22C55E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7366000" y="55245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总结与展望</a:t>
            </a:r>
            <a:endParaRPr lang="en-US" sz="1100"/>
          </a:p>
        </p:txBody>
      </p:sp>
      <p:cxnSp>
        <p:nvCxnSpPr>
          <p:cNvPr id="37" name="Connector 37"/>
          <p:cNvCxnSpPr/>
          <p:nvPr/>
        </p:nvCxnSpPr>
        <p:spPr>
          <a:xfrm rot="-9822">
            <a:off x="6477009" y="60261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" name="AutoShape 38"/>
          <p:cNvSpPr/>
          <p:nvPr/>
        </p:nvSpPr>
        <p:spPr>
          <a:xfrm>
            <a:off x="6477000" y="6096000"/>
            <a:ext cx="444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回顾项目开发全过程，总结技术实现的经验与不足，针对现有系统的局限提出优化方案，规划未来迭代方向。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项目概述 - 研究背景与意义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22C55E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3429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2032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/ 研究背景：校园社交的现实痛点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291">
            <a:off x="1016009" y="2597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2794000"/>
            <a:ext cx="4699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校大学生课余生活丰富，但普遍面临“想运动、自习、聚餐却找不到同行伙伴”的困境。现有搭子交流渠道分散在QQ群、朋友圈、校园表白墙等平台，不仅信息杂乱无时效性，更缺乏精准的兴趣匹配、线下位置筛选与一对一沟通功能，同时缺少实名管控机制，存在较大的社交安全隐患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5461000"/>
            <a:ext cx="1524000" cy="635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79500" y="5562600"/>
            <a:ext cx="1397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渠道分散无序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667000" y="5461000"/>
            <a:ext cx="1524000" cy="635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2730500" y="5562600"/>
            <a:ext cx="1397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匹配效率低下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191000" y="5461000"/>
            <a:ext cx="1524000" cy="635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254500" y="5562600"/>
            <a:ext cx="1397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安全管控缺失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5389889">
            <a:off x="4191000" y="3930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604000" y="1778000"/>
            <a:ext cx="2476500" cy="1968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94500" y="19685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366000" y="1968500"/>
            <a:ext cx="1587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整合信息渠道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20834">
            <a:off x="6794519" y="25971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6794500" y="273050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打造集中统一的搭子信息发布与检索平台，解决信息分散、杂乱的问题，让用户快速精准找到目标伙伴。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207500" y="1778000"/>
            <a:ext cx="2476500" cy="1968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98000" y="1968500"/>
            <a:ext cx="406400" cy="406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9969500" y="1968500"/>
            <a:ext cx="1587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打破社交壁垒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20834">
            <a:off x="9398019" y="25971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9398000" y="273050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连接不同年级、专业的学生群体，丰富课余生活场景，营造开放、活跃的校园社交氛围，拓展人际交往圈。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604000" y="4191000"/>
            <a:ext cx="5080000" cy="1905000"/>
          </a:xfrm>
          <a:prstGeom prst="roundRect">
            <a:avLst>
              <a:gd name="adj" fmla="val 0"/>
            </a:avLst>
          </a:prstGeom>
          <a:solidFill>
            <a:srgbClr val="22C55E">
              <a:alpha val="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94500" y="4445000"/>
            <a:ext cx="508000" cy="5080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7493000" y="4445000"/>
            <a:ext cx="4000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以项目驱动，深化全栈技术实践能力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-9291">
            <a:off x="6794509" y="5137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/>
        </p:nvSpPr>
        <p:spPr>
          <a:xfrm>
            <a:off x="6794500" y="52705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通过从需求分析、原型设计到前端交互、后端开发及部署上线的完整流程，系统锻炼数据库设计、接口开发与小程序开发等核心技能，实现理论知识向工程实践的转化。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项目概述 - 项目目标与开发限制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39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762000" y="1905000"/>
            <a:ext cx="5207000" cy="4445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76200" cy="4445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22225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905000" y="22225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打造校园娱乐搭子平台 MVP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822">
            <a:off x="1143009" y="31051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143000" y="3429000"/>
            <a:ext cx="4572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5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聚焦校园场景，开发基于学号认证的娱乐搭子匹配平台，实现用户从发布搭子需求、智能浏览附近活动、一键申请组队，到私信沟通的完整业务闭环。以轻量化 MVP 模式验证核心功能，为校园用户提供安全、便捷的兴趣社交解决方案，解决校园内“搭子难寻”的实际痛点。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477000" y="1905000"/>
            <a:ext cx="2603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31000" y="21590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239000" y="2159000"/>
            <a:ext cx="1714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单一学号登录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20834">
            <a:off x="6731019" y="27876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6667500" y="2984500"/>
            <a:ext cx="222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取消微信第三方快捷登录方式，平台仅开放学号账号登录入口，确保用户身份为在校师生，保障社区安全。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207500" y="1905000"/>
            <a:ext cx="2603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61500" y="2159000"/>
            <a:ext cx="355600" cy="355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9969500" y="2159000"/>
            <a:ext cx="1714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预置三组测试号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20834">
            <a:off x="9461519" y="27876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9398000" y="2984500"/>
            <a:ext cx="222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数据库仅预置张伟、王芳、胡斌3组测试账号，覆盖不同年级学号段，满足基础功能测试与流程跑通需求。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477000" y="4254500"/>
            <a:ext cx="2603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31000" y="4508500"/>
            <a:ext cx="355600" cy="3556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239000" y="4508500"/>
            <a:ext cx="1714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HTTP 轮询通讯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20834">
            <a:off x="6731019" y="51371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6667500" y="5270500"/>
            <a:ext cx="222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为简化开发与部署流程，实时通讯功能未采用WebSocket协议，而是使用轻量化的HTTP轮询方案实现消息同步。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207500" y="4254500"/>
            <a:ext cx="2603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461500" y="4508500"/>
            <a:ext cx="355600" cy="3556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9969500" y="4508500"/>
            <a:ext cx="1714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辅助独立开发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-20834">
            <a:off x="9461519" y="51371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/>
        </p:nvSpPr>
        <p:spPr>
          <a:xfrm>
            <a:off x="9398000" y="5270500"/>
            <a:ext cx="222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采用单人独立开发模式，全程借助 Trae AI 辅助核心代码编写、技术文档整理与问题排查，提升开发效率与质量。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系统设计 - 总体架构与技术选型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39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762000" y="1778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/ 总体架构：前后端分离B/S三层架构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540000"/>
            <a:ext cx="48260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540000"/>
            <a:ext cx="762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9500" y="2730500"/>
            <a:ext cx="457200" cy="4572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778000" y="2667000"/>
            <a:ext cx="3556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客户端层：Uni-app 微信小程序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基于Vue 3语法，一次开发多端适配，聚焦用户交互与界面展示，轻量高效。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873500"/>
            <a:ext cx="48260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762000" y="3873500"/>
            <a:ext cx="762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9500" y="4064000"/>
            <a:ext cx="457200" cy="457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778000" y="4000500"/>
            <a:ext cx="3556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业务服务层：Spring Boot 核心框架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 Controller → Service → Mapper 分层模式，解耦业务逻辑，便于维护与扩展。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5207000"/>
            <a:ext cx="48260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762000" y="5207000"/>
            <a:ext cx="762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9500" y="5397500"/>
            <a:ext cx="457200" cy="4572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778000" y="5334000"/>
            <a:ext cx="3556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数据持久层：MySQL 8.0 关系型数据库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稳定可靠的开源数据库，支持复杂查询与事务管理，保障数据一致性与完整性。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5390316">
            <a:off x="3841750" y="4025909"/>
            <a:ext cx="4508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6350000" y="1778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/ 技术选型：贴合开发场景的最优解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350000" y="2540000"/>
            <a:ext cx="2603500" cy="1714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40500" y="2730500"/>
            <a:ext cx="355600" cy="355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985000" y="2730500"/>
            <a:ext cx="184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后端开发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19644">
            <a:off x="6540518" y="3295650"/>
            <a:ext cx="222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6540500" y="3429000"/>
            <a:ext cx="222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选用 Spring Boot 2.7 + MyBatis-Plus，生态成熟，简化CRUD操作，适配AI辅助代码生成。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080500" y="2540000"/>
            <a:ext cx="2603500" cy="1714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71000" y="2730500"/>
            <a:ext cx="355600" cy="3556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9715500" y="2730500"/>
            <a:ext cx="184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前端交互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-19644">
            <a:off x="9271018" y="3295650"/>
            <a:ext cx="222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9271000" y="3429000"/>
            <a:ext cx="222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Uni-app (Vue 3) 开发，一套代码多端运行，快速适配微信小程序与手机屏幕。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350000" y="4508500"/>
            <a:ext cx="2603500" cy="1714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40500" y="4699000"/>
            <a:ext cx="355600" cy="3556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6985000" y="4699000"/>
            <a:ext cx="184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数据存储</a:t>
            </a:r>
            <a:endParaRPr lang="en-US" sz="1100"/>
          </a:p>
        </p:txBody>
      </p:sp>
      <p:cxnSp>
        <p:nvCxnSpPr>
          <p:cNvPr id="32" name="Connector 32"/>
          <p:cNvCxnSpPr/>
          <p:nvPr/>
        </p:nvCxnSpPr>
        <p:spPr>
          <a:xfrm rot="-19644">
            <a:off x="6540518" y="5264150"/>
            <a:ext cx="222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" name="AutoShape 33"/>
          <p:cNvSpPr/>
          <p:nvPr/>
        </p:nvSpPr>
        <p:spPr>
          <a:xfrm>
            <a:off x="6540500" y="5397500"/>
            <a:ext cx="222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MySQL 8.0 支持 GIS 空间函数，可高效实现“附近搭子”的地理位置距离计算功能。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9080500" y="4508500"/>
            <a:ext cx="2603500" cy="1714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271000" y="4699000"/>
            <a:ext cx="355600" cy="355600"/>
          </a:xfrm>
          <a:prstGeom prst="rect">
            <a:avLst/>
          </a:prstGeom>
        </p:spPr>
      </p:pic>
      <p:sp>
        <p:nvSpPr>
          <p:cNvPr id="36" name="AutoShape 36"/>
          <p:cNvSpPr/>
          <p:nvPr/>
        </p:nvSpPr>
        <p:spPr>
          <a:xfrm>
            <a:off x="9715500" y="4699000"/>
            <a:ext cx="184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安全保障</a:t>
            </a:r>
            <a:endParaRPr lang="en-US" sz="1100"/>
          </a:p>
        </p:txBody>
      </p:sp>
      <p:cxnSp>
        <p:nvCxnSpPr>
          <p:cNvPr id="37" name="Connector 37"/>
          <p:cNvCxnSpPr/>
          <p:nvPr/>
        </p:nvCxnSpPr>
        <p:spPr>
          <a:xfrm rot="-19644">
            <a:off x="9271018" y="5264150"/>
            <a:ext cx="222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" name="AutoShape 38"/>
          <p:cNvSpPr/>
          <p:nvPr/>
        </p:nvSpPr>
        <p:spPr>
          <a:xfrm>
            <a:off x="9271000" y="5397500"/>
            <a:ext cx="222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 JWT 鉴权、AES 隐私加密与 DFA 敏感词过滤，全方位保障系统数据与交互安全。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系统设计 - 功能模块划分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06500"/>
            <a:ext cx="10668000" cy="25400"/>
          </a:xfrm>
          <a:prstGeom prst="roundRect">
            <a:avLst>
              <a:gd name="adj" fmla="val 0"/>
            </a:avLst>
          </a:prstGeom>
          <a:solidFill>
            <a:srgbClr val="22C55E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705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76200" cy="1270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841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1778000"/>
            <a:ext cx="412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buddy-common · 公共基础层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0577">
            <a:off x="1651010" y="2254250"/>
            <a:ext cx="412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651000" y="2349500"/>
            <a:ext cx="4127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封装项目通用的工具类、加密解密算法、全局异常处理机制与统一响应体，为上层业务提供基础支撑。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3238500"/>
            <a:ext cx="52705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762000" y="3238500"/>
            <a:ext cx="76200" cy="1270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429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651000" y="3365500"/>
            <a:ext cx="412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buddy-auth · 权限认证层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0577">
            <a:off x="1651010" y="3841750"/>
            <a:ext cx="412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1651000" y="3937000"/>
            <a:ext cx="4127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负责用户学号登录校验、JWT令牌管理、接口权限控制与角色鉴权，保障系统访问的安全性与合法性。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826000"/>
            <a:ext cx="52705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62000" y="4826000"/>
            <a:ext cx="76200" cy="1270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0165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651000" y="4953000"/>
            <a:ext cx="412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buddy-post · 核心业务层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0577">
            <a:off x="1651010" y="5429250"/>
            <a:ext cx="412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1651000" y="5524500"/>
            <a:ext cx="4127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承载帖子发布、LBS附近内容查询、组队申请与动态互动等核心功能，是用户交互的主要业务载体。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350000" y="1651000"/>
            <a:ext cx="52705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350000" y="1651000"/>
            <a:ext cx="76200" cy="1270000"/>
          </a:xfrm>
          <a:prstGeom prst="roundRect">
            <a:avLst>
              <a:gd name="adj" fmla="val 0"/>
            </a:avLst>
          </a:prstGeom>
          <a:solidFill>
            <a:srgbClr val="22C55E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4000" y="1841500"/>
            <a:ext cx="406400" cy="4064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239000" y="1778000"/>
            <a:ext cx="412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buddy-match · 智能匹配层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10577">
            <a:off x="7239010" y="2254250"/>
            <a:ext cx="412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7239000" y="2349500"/>
            <a:ext cx="4127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基于用户兴趣标签与行为数据，通过相似度算法实现精准的用户、内容与组队推荐，提升匹配效率。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350000" y="3238500"/>
            <a:ext cx="52705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6350000" y="3238500"/>
            <a:ext cx="76200" cy="1270000"/>
          </a:xfrm>
          <a:prstGeom prst="roundRect">
            <a:avLst>
              <a:gd name="adj" fmla="val 0"/>
            </a:avLst>
          </a:prstGeom>
          <a:solidFill>
            <a:srgbClr val="22C55E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4000" y="3429000"/>
            <a:ext cx="406400" cy="4064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7239000" y="3365500"/>
            <a:ext cx="412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buddy-message · 即时通讯层</a:t>
            </a:r>
            <a:endParaRPr lang="en-US" sz="1100"/>
          </a:p>
        </p:txBody>
      </p:sp>
      <p:cxnSp>
        <p:nvCxnSpPr>
          <p:cNvPr id="32" name="Connector 32"/>
          <p:cNvCxnSpPr/>
          <p:nvPr/>
        </p:nvCxnSpPr>
        <p:spPr>
          <a:xfrm rot="-10577">
            <a:off x="7239010" y="3841750"/>
            <a:ext cx="412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" name="AutoShape 33"/>
          <p:cNvSpPr/>
          <p:nvPr/>
        </p:nvSpPr>
        <p:spPr>
          <a:xfrm>
            <a:off x="7239000" y="3937000"/>
            <a:ext cx="4127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实现用户间私信轮询、系统通知推送与消息存储功能，保障信息传递的实时性与完整性。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6350000" y="4826000"/>
            <a:ext cx="52705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6350000" y="4826000"/>
            <a:ext cx="76200" cy="1270000"/>
          </a:xfrm>
          <a:prstGeom prst="roundRect">
            <a:avLst>
              <a:gd name="adj" fmla="val 0"/>
            </a:avLst>
          </a:prstGeom>
          <a:solidFill>
            <a:srgbClr val="22C55E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04000" y="5016500"/>
            <a:ext cx="406400" cy="406400"/>
          </a:xfrm>
          <a:prstGeom prst="rect">
            <a:avLst/>
          </a:prstGeom>
        </p:spPr>
      </p:pic>
      <p:sp>
        <p:nvSpPr>
          <p:cNvPr id="37" name="AutoShape 37"/>
          <p:cNvSpPr/>
          <p:nvPr/>
        </p:nvSpPr>
        <p:spPr>
          <a:xfrm>
            <a:off x="7239000" y="4953000"/>
            <a:ext cx="412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buddy-admin · 管理运维层</a:t>
            </a:r>
            <a:endParaRPr lang="en-US" sz="1100"/>
          </a:p>
        </p:txBody>
      </p:sp>
      <p:cxnSp>
        <p:nvCxnSpPr>
          <p:cNvPr id="38" name="Connector 38"/>
          <p:cNvCxnSpPr/>
          <p:nvPr/>
        </p:nvCxnSpPr>
        <p:spPr>
          <a:xfrm rot="-10577">
            <a:off x="7239010" y="5429250"/>
            <a:ext cx="412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" name="AutoShape 39"/>
          <p:cNvSpPr/>
          <p:nvPr/>
        </p:nvSpPr>
        <p:spPr>
          <a:xfrm>
            <a:off x="7239000" y="5524500"/>
            <a:ext cx="4127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提供简易的管理员后台，支持用户信息管理、内容审核、系统配置与数据统计，辅助平台运维治理。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系统设计 - 数据库设计（核心表）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762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2476500" cy="2286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2476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22860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22606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user · 用户表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20834">
            <a:off x="952519" y="28511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952500" y="3048000"/>
            <a:ext cx="2095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存储平台用户的基础信息，以学号作为唯一主键标识，关联用户身份认证与权限管理的核心数据载体。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492500" y="2032000"/>
            <a:ext cx="2476500" cy="2286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3492500" y="2032000"/>
            <a:ext cx="2476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83000" y="22860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127500" y="22606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post · 帖子表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20834">
            <a:off x="3683019" y="28511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3683000" y="3048000"/>
            <a:ext cx="2095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记录各类活动的详细信息，采用Point地理空间类型存储位置数据，支持LBS周边活动精准检索与展示。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2032000"/>
            <a:ext cx="2476500" cy="2286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223000" y="2032000"/>
            <a:ext cx="2476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13500" y="22860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858000" y="22606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enrollment · 申请表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20834">
            <a:off x="6413519" y="28511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6413500" y="3048000"/>
            <a:ext cx="2095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沉淀用户发起或响应的组队申请记录，维护申请状态流转，是匹配组队需求、管理参与权限的关键依据。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953500" y="2032000"/>
            <a:ext cx="2476500" cy="2286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8953500" y="2032000"/>
            <a:ext cx="2476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44000" y="2286000"/>
            <a:ext cx="355600" cy="3556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9588500" y="22606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message · 消息表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20834">
            <a:off x="9144019" y="28511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9144000" y="3048000"/>
            <a:ext cx="2095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存储用户间的私信对话内容，记录消息发送时间、状态与关联主体，保障平台内即时沟通的完整性。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-4092">
            <a:off x="762004" y="4692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/>
        </p:nvSpPr>
        <p:spPr>
          <a:xfrm>
            <a:off x="762000" y="5080000"/>
            <a:ext cx="3467100" cy="1270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52500" y="5334000"/>
            <a:ext cx="406400" cy="4064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1524000" y="5270500"/>
            <a:ext cx="254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 1 : N 帖子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单用户可发布多条活动帖子，建立创作者与内容的归属关联，支撑内容溯源与管理。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2" name="AutoShape 32"/>
          <p:cNvSpPr/>
          <p:nvPr/>
        </p:nvSpPr>
        <p:spPr>
          <a:xfrm>
            <a:off x="4394200" y="5080000"/>
            <a:ext cx="3467100" cy="1270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584700" y="5334000"/>
            <a:ext cx="406400" cy="406400"/>
          </a:xfrm>
          <a:prstGeom prst="rect">
            <a:avLst/>
          </a:prstGeom>
        </p:spPr>
      </p:pic>
      <p:sp>
        <p:nvSpPr>
          <p:cNvPr id="34" name="AutoShape 34"/>
          <p:cNvSpPr/>
          <p:nvPr/>
        </p:nvSpPr>
        <p:spPr>
          <a:xfrm>
            <a:off x="5156200" y="5270500"/>
            <a:ext cx="254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 1 : N 申请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用户可发起多次组队申请，也可响应不同活动，构建用户参与行为的完整闭环链路。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5" name="AutoShape 35"/>
          <p:cNvSpPr/>
          <p:nvPr/>
        </p:nvSpPr>
        <p:spPr>
          <a:xfrm>
            <a:off x="7950200" y="5080000"/>
            <a:ext cx="3467100" cy="1270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140700" y="5334000"/>
            <a:ext cx="406400" cy="406400"/>
          </a:xfrm>
          <a:prstGeom prst="rect">
            <a:avLst/>
          </a:prstGeom>
        </p:spPr>
      </p:pic>
      <p:sp>
        <p:nvSpPr>
          <p:cNvPr id="37" name="AutoShape 37"/>
          <p:cNvSpPr/>
          <p:nvPr/>
        </p:nvSpPr>
        <p:spPr>
          <a:xfrm>
            <a:off x="8712200" y="5270500"/>
            <a:ext cx="254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 M : N 消息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用户间支持多对多双向私信沟通，通过会话关联建立网状交互关系，保障沟通的灵活性。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核心功能实现 - 用户认证与信息完善</a:t>
            </a:r>
            <a:endParaRPr lang="en-US" sz="1100"/>
          </a:p>
        </p:txBody>
      </p:sp>
      <p:sp>
        <p:nvSpPr>
          <p:cNvPr id="3" name="AutoShape 3"/>
          <p:cNvSpPr/>
          <p:nvPr>
            <p:custDataLst>
              <p:tags r:id="rId1"/>
            </p:custDataLst>
          </p:nvPr>
        </p:nvSpPr>
        <p:spPr>
          <a:xfrm>
            <a:off x="1016000" y="1778000"/>
            <a:ext cx="482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完善个人信息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2413000"/>
            <a:ext cx="2171700" cy="21507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用户首次登录后，需设置昵称、性别，并选择至少一个兴趣标签（如约饭、运动、游戏等）。</a:t>
            </a:r>
            <a:endParaRPr lang="en-US" sz="1100"/>
          </a:p>
        </p:txBody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6350000" y="1778000"/>
            <a:ext cx="482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完成学号认证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6226810" y="2679065"/>
            <a:ext cx="2233295" cy="14992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提交真实姓名、学号，并上传校园卡照片进行认证。认证通过后方可使用全部功能。</a:t>
            </a:r>
            <a:endParaRPr lang="en-US" sz="1100"/>
          </a:p>
        </p:txBody>
      </p:sp>
      <p:pic>
        <p:nvPicPr>
          <p:cNvPr id="9" name="图片 8" descr="屏幕截图 2026-06-24 19215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9300" y="1778000"/>
            <a:ext cx="2245360" cy="4079240"/>
          </a:xfrm>
          <a:prstGeom prst="rect">
            <a:avLst/>
          </a:prstGeom>
        </p:spPr>
      </p:pic>
      <p:pic>
        <p:nvPicPr>
          <p:cNvPr id="10" name="图片 9" descr="屏幕截图 2026-06-24 192117"/>
          <p:cNvPicPr>
            <a:picLocks noChangeAspect="1"/>
          </p:cNvPicPr>
          <p:nvPr/>
        </p:nvPicPr>
        <p:blipFill>
          <a:blip r:embed="rId6"/>
          <a:srcRect t="3774" b="27968"/>
          <a:stretch>
            <a:fillRect/>
          </a:stretch>
        </p:blipFill>
        <p:spPr>
          <a:xfrm>
            <a:off x="8898890" y="1607820"/>
            <a:ext cx="2110740" cy="42494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核心功能实现 - 搭子广场与智能推荐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778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搭子广场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413000"/>
            <a:ext cx="1441450" cy="26377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首页以卡片流形式展示各类搭子活动，包含活动类型、发布者、时间、地点及参与人数。用户可直接点击“我想去”按钮申请加入。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50000" y="1778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智能推荐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350000" y="2515870"/>
            <a:ext cx="1450975" cy="23088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系统基于用户发布的帖子，通过“类型+关键词+地点+时间”的相似度算法，智能推荐7条相似的搭子活动。</a:t>
            </a:r>
            <a:endParaRPr lang="en-US" sz="1100"/>
          </a:p>
        </p:txBody>
      </p:sp>
      <p:pic>
        <p:nvPicPr>
          <p:cNvPr id="9" name="图片 8" descr="屏幕截图 2026-06-24 1921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30525" y="1839595"/>
            <a:ext cx="2272030" cy="4222750"/>
          </a:xfrm>
          <a:prstGeom prst="rect">
            <a:avLst/>
          </a:prstGeom>
        </p:spPr>
      </p:pic>
      <p:pic>
        <p:nvPicPr>
          <p:cNvPr id="10" name="图片 9" descr="屏幕截图 2026-06-24 1921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6780" y="1839595"/>
            <a:ext cx="2056130" cy="38569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核心功能实现 - 发布搭子与申请组队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905000"/>
            <a:ext cx="4826000" cy="431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2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发布搭子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用户可以发布新的搭子活动。</a:t>
            </a:r>
            <a:endParaRPr lang="en-US" sz="14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活动类型：</a:t>
            </a:r>
            <a:r>
              <a:rPr 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选择约饭、运动、游戏、自习等。</a:t>
            </a:r>
            <a:endParaRPr lang="en-US" sz="15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活动描述：</a:t>
            </a:r>
            <a:r>
              <a:rPr 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详细说明活动内容，最多500字。</a:t>
            </a:r>
            <a:endParaRPr lang="en-US" sz="15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活动时间与地点：</a:t>
            </a:r>
            <a:r>
              <a:rPr 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精确设置活动的具体时间和位置。</a:t>
            </a:r>
            <a:endParaRPr lang="en-US" sz="15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人数上限：</a:t>
            </a:r>
            <a:r>
              <a:rPr 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设置2-5人的活动规模。</a:t>
            </a:r>
            <a:endParaRPr lang="en-US" sz="15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5" name="图片 4" descr="屏幕截图 2026-06-24 19215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8785" y="1577975"/>
            <a:ext cx="2637790" cy="47923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核心功能实现 - 私信交流与个人中心</a:t>
            </a:r>
            <a:endParaRPr lang="en-US" sz="1100"/>
          </a:p>
        </p:txBody>
      </p:sp>
      <p:sp>
        <p:nvSpPr>
          <p:cNvPr id="3" name="AutoShape 3"/>
          <p:cNvSpPr/>
          <p:nvPr>
            <p:custDataLst>
              <p:tags r:id="rId1"/>
            </p:custDataLst>
          </p:nvPr>
        </p:nvSpPr>
        <p:spPr>
          <a:xfrm>
            <a:off x="762000" y="1778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私信交流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2349500"/>
            <a:ext cx="1400175" cy="21367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用户同意组队申请后成为好友，可进入私信界面进行交流。空状态下提示用户在“我的邀约”中同意申请后添加好友。</a:t>
            </a:r>
            <a:endParaRPr lang="en-US" sz="1100"/>
          </a:p>
        </p:txBody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6350000" y="1778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个人中心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6350000" y="2349500"/>
            <a:ext cx="1471295" cy="21361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集中展示用户的发布、参与、邀约、好友等信息，并提供学号认证、设置、退出登录等功能入口。</a:t>
            </a:r>
            <a:endParaRPr lang="en-US" sz="1100"/>
          </a:p>
        </p:txBody>
      </p:sp>
      <p:pic>
        <p:nvPicPr>
          <p:cNvPr id="9" name="图片 8" descr="屏幕截图 2026-06-24 19220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8565" y="1862455"/>
            <a:ext cx="2138045" cy="3792855"/>
          </a:xfrm>
          <a:prstGeom prst="rect">
            <a:avLst/>
          </a:prstGeom>
        </p:spPr>
      </p:pic>
      <p:pic>
        <p:nvPicPr>
          <p:cNvPr id="10" name="图片 9" descr="屏幕截图 2026-06-24 19222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3945" y="1373505"/>
            <a:ext cx="2068195" cy="477075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778000"/>
            <a:ext cx="12192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0" b="1" i="0" u="none" strike="noStrike">
                <a:solidFill>
                  <a:srgbClr val="3B82F6">
                    <a:alpha val="7843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5080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功能演示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842000" y="6159500"/>
            <a:ext cx="508000" cy="508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0" y="6350000"/>
            <a:ext cx="1219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FUNCTIONAL DEMONSTRATION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381000"/>
            <a:ext cx="1117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用户中心与设置体系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3906">
            <a:off x="508004" y="12001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508000" y="1651000"/>
            <a:ext cx="5461000" cy="4572000"/>
          </a:xfrm>
          <a:prstGeom prst="roundRect">
            <a:avLst>
              <a:gd name="adj" fmla="val 0"/>
            </a:avLst>
          </a:prstGeom>
          <a:solidFill>
            <a:srgbClr val="EFF6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 t="14770" b="14770"/>
          <a:stretch>
            <a:fillRect/>
          </a:stretch>
        </p:blipFill>
        <p:spPr>
          <a:xfrm>
            <a:off x="762000" y="1905000"/>
            <a:ext cx="2032000" cy="3302000"/>
          </a:xfrm>
          <a:prstGeom prst="rect">
            <a:avLst/>
          </a:prstGeom>
          <a:noFill/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3048000" y="1905000"/>
            <a:ext cx="266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个人中心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048000" y="2667000"/>
            <a:ext cx="2667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作为用户管理个人活动与社交关系的核心枢纽，集中展示发布动态、参与记录、邀约信息及好友列表，打造一体化的信息聚合视图。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5461000"/>
            <a:ext cx="2476500" cy="635000"/>
          </a:xfrm>
          <a:prstGeom prst="roundRect">
            <a:avLst>
              <a:gd name="adj" fmla="val 0"/>
            </a:avLst>
          </a:prstGeom>
          <a:solidFill>
            <a:srgbClr val="3B82F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9000" y="56007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97000" y="55626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学号认证入口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校园身份权威核验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365500" y="5461000"/>
            <a:ext cx="2476500" cy="635000"/>
          </a:xfrm>
          <a:prstGeom prst="roundRect">
            <a:avLst>
              <a:gd name="adj" fmla="val 0"/>
            </a:avLst>
          </a:prstGeom>
          <a:solidFill>
            <a:srgbClr val="3B82F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92500" y="56007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000500" y="55626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全维社交管理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好友、邀约一站式处理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5389889">
            <a:off x="4000500" y="3930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223000" y="1651000"/>
            <a:ext cx="5461000" cy="4572000"/>
          </a:xfrm>
          <a:prstGeom prst="roundRect">
            <a:avLst>
              <a:gd name="adj" fmla="val 0"/>
            </a:avLst>
          </a:prstGeom>
          <a:solidFill>
            <a:srgbClr val="F3F4F6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/>
          <a:srcRect t="12521" b="12521"/>
          <a:stretch>
            <a:fillRect/>
          </a:stretch>
        </p:blipFill>
        <p:spPr>
          <a:xfrm>
            <a:off x="6477000" y="1905000"/>
            <a:ext cx="2032000" cy="3302000"/>
          </a:xfrm>
          <a:prstGeom prst="rect">
            <a:avLst/>
          </a:prstGeom>
          <a:noFill/>
          <a:ln w="12700" cap="flat" cmpd="sng">
            <a:solidFill>
              <a:srgbClr val="4B5563">
                <a:alpha val="20000"/>
              </a:srgbClr>
            </a:solidFill>
            <a:prstDash val="solid"/>
            <a:round/>
          </a:ln>
        </p:spPr>
      </p:pic>
      <p:sp>
        <p:nvSpPr>
          <p:cNvPr id="17" name="AutoShape 17"/>
          <p:cNvSpPr/>
          <p:nvPr/>
        </p:nvSpPr>
        <p:spPr>
          <a:xfrm>
            <a:off x="8763000" y="1905000"/>
            <a:ext cx="266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设置页面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763000" y="2667000"/>
            <a:ext cx="2667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构建完善的账号自主管理后台，支持个人资料编辑、账号安全加固及隐私权限配置，同时提供服务协议与反馈渠道，保障用户知情权。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77000" y="5461000"/>
            <a:ext cx="2476500" cy="635000"/>
          </a:xfrm>
          <a:prstGeom prst="roundRect">
            <a:avLst>
              <a:gd name="adj" fmla="val 0"/>
            </a:avLst>
          </a:prstGeom>
          <a:solidFill>
            <a:srgbClr val="4B5563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4000" y="5600700"/>
            <a:ext cx="355600" cy="355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112000" y="55626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安全与隐私管控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数据权限完全自主掌控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080500" y="5461000"/>
            <a:ext cx="2476500" cy="635000"/>
          </a:xfrm>
          <a:prstGeom prst="roundRect">
            <a:avLst>
              <a:gd name="adj" fmla="val 0"/>
            </a:avLst>
          </a:prstGeom>
          <a:solidFill>
            <a:srgbClr val="4B5563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07500" y="5600700"/>
            <a:ext cx="355600" cy="3556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9715500" y="55626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系统服务与反馈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协议查看与问题反馈通道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系统测试 - 核心测试用例与结果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2705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08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6764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47800" y="16510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用户登录模块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1590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覆盖正确/错误学号密码登录场景，验证权限拦截逻辑，确保非授权用户无法访问核心功能。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826000" y="1651000"/>
            <a:ext cx="1016000" cy="330200"/>
          </a:xfrm>
          <a:prstGeom prst="roundRect">
            <a:avLst>
              <a:gd name="adj" fmla="val 0"/>
            </a:avLst>
          </a:prstGeom>
          <a:solidFill>
            <a:srgbClr val="22C55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826000" y="1651000"/>
            <a:ext cx="101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测试通过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159500" y="1524000"/>
            <a:ext cx="52705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159500" y="1524000"/>
            <a:ext cx="508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13500" y="16764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845300" y="16510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帖子发布模块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413500" y="21590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测试合规与违规内容发布流程，校验表单字段规则，确保非法内容被拦截，数据存储准确无误。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223500" y="1651000"/>
            <a:ext cx="1016000" cy="330200"/>
          </a:xfrm>
          <a:prstGeom prst="roundRect">
            <a:avLst>
              <a:gd name="adj" fmla="val 0"/>
            </a:avLst>
          </a:prstGeom>
          <a:solidFill>
            <a:srgbClr val="22C55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0223500" y="1651000"/>
            <a:ext cx="101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测试通过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3175000"/>
            <a:ext cx="52705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762000" y="3175000"/>
            <a:ext cx="508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3274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447800" y="33020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附近搭子模块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016000" y="38100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验证定位与非定位场景下的用户列表展示，测试空数据、远距离无匹配等边缘情况的页面处理。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826000" y="3302000"/>
            <a:ext cx="1016000" cy="330200"/>
          </a:xfrm>
          <a:prstGeom prst="roundRect">
            <a:avLst>
              <a:gd name="adj" fmla="val 0"/>
            </a:avLst>
          </a:prstGeom>
          <a:solidFill>
            <a:srgbClr val="22C55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4826000" y="3302000"/>
            <a:ext cx="101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测试通过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159500" y="3175000"/>
            <a:ext cx="52705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159500" y="3175000"/>
            <a:ext cx="508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13500" y="3327400"/>
            <a:ext cx="304800" cy="3048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6845300" y="33020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组队申请模块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413500" y="38100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测试单人申请流程及并发报名场景，重点验证库存防超卖机制，确保名额分配准确无超额。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10223500" y="3302000"/>
            <a:ext cx="1016000" cy="330200"/>
          </a:xfrm>
          <a:prstGeom prst="roundRect">
            <a:avLst>
              <a:gd name="adj" fmla="val 0"/>
            </a:avLst>
          </a:prstGeom>
          <a:solidFill>
            <a:srgbClr val="22C55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10223500" y="3302000"/>
            <a:ext cx="101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测试通过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762000" y="4826000"/>
            <a:ext cx="52705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762000" y="4826000"/>
            <a:ext cx="508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4978400"/>
            <a:ext cx="304800" cy="304800"/>
          </a:xfrm>
          <a:prstGeom prst="rect">
            <a:avLst/>
          </a:prstGeom>
        </p:spPr>
      </p:pic>
      <p:sp>
        <p:nvSpPr>
          <p:cNvPr id="34" name="AutoShape 34"/>
          <p:cNvSpPr/>
          <p:nvPr/>
        </p:nvSpPr>
        <p:spPr>
          <a:xfrm>
            <a:off x="1447800" y="49530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私信聊天模块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1016000" y="54610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覆盖消息实时收发、未读消息标记更新，以及断网重连后的历史消息重复拉取与同步逻辑。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4826000" y="4953000"/>
            <a:ext cx="1016000" cy="330200"/>
          </a:xfrm>
          <a:prstGeom prst="roundRect">
            <a:avLst>
              <a:gd name="adj" fmla="val 0"/>
            </a:avLst>
          </a:prstGeom>
          <a:solidFill>
            <a:srgbClr val="22C55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37"/>
          <p:cNvSpPr/>
          <p:nvPr/>
        </p:nvSpPr>
        <p:spPr>
          <a:xfrm>
            <a:off x="4826000" y="4953000"/>
            <a:ext cx="101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测试通过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6159500" y="4826000"/>
            <a:ext cx="52705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9" name="AutoShape 39"/>
          <p:cNvSpPr/>
          <p:nvPr/>
        </p:nvSpPr>
        <p:spPr>
          <a:xfrm>
            <a:off x="6159500" y="4826000"/>
            <a:ext cx="508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0" name="Picture 4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13500" y="4978400"/>
            <a:ext cx="304800" cy="304800"/>
          </a:xfrm>
          <a:prstGeom prst="rect">
            <a:avLst/>
          </a:prstGeom>
        </p:spPr>
      </p:pic>
      <p:sp>
        <p:nvSpPr>
          <p:cNvPr id="41" name="AutoShape 41"/>
          <p:cNvSpPr/>
          <p:nvPr/>
        </p:nvSpPr>
        <p:spPr>
          <a:xfrm>
            <a:off x="6845300" y="49530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性能安全模块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6413500" y="54610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检测核心接口响应时间，验证跨域资源配置与非法Token访问拦截，保障系统数据与访问安全。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10223500" y="4953000"/>
            <a:ext cx="1016000" cy="330200"/>
          </a:xfrm>
          <a:prstGeom prst="roundRect">
            <a:avLst>
              <a:gd name="adj" fmla="val 0"/>
            </a:avLst>
          </a:prstGeom>
          <a:solidFill>
            <a:srgbClr val="22C55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4" name="AutoShape 44"/>
          <p:cNvSpPr/>
          <p:nvPr/>
        </p:nvSpPr>
        <p:spPr>
          <a:xfrm>
            <a:off x="10223500" y="4953000"/>
            <a:ext cx="101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测试通过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总结与展望 - 项目总结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762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4" name="Connector 4"/>
          <p:cNvCxnSpPr/>
          <p:nvPr/>
        </p:nvCxnSpPr>
        <p:spPr>
          <a:xfrm rot="5389582">
            <a:off x="4000500" y="399416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9050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 项目核心成果交付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667000"/>
            <a:ext cx="2413000" cy="1587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28575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2819400"/>
            <a:ext cx="1714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成功落地MVP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21485">
            <a:off x="952520" y="3295650"/>
            <a:ext cx="203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952500" y="3429000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基于学号登录体系，搭建校园搭子平台原型，实现用户核心交互流程，达成项目初期既定目标。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365500" y="2667000"/>
            <a:ext cx="2413000" cy="1587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56000" y="2857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000500" y="2819400"/>
            <a:ext cx="1714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全链路功能闭环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21485">
            <a:off x="3556020" y="3295650"/>
            <a:ext cx="203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3556000" y="3429000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打通“需求发布-浏览匹配-申请组队-即时沟通”全业务流程，确保用户操作流畅无断点。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572000"/>
            <a:ext cx="2413000" cy="1587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47625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397000" y="4724400"/>
            <a:ext cx="1714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全栈技术落地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21485">
            <a:off x="952520" y="5200650"/>
            <a:ext cx="203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952500" y="5334000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熟练运用Spring Boot构建后端服务，结合Uni-app实现多端适配，完成前后端全栈开发实践。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3365500" y="4572000"/>
            <a:ext cx="2413000" cy="1587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56000" y="47625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4000500" y="4724400"/>
            <a:ext cx="1714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关键难点突破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21485">
            <a:off x="3556020" y="5200650"/>
            <a:ext cx="203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3556000" y="5334000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攻克跨域访问、高并发超卖、LBS地理位置精准查询等技术痛点，保障系统稳定性与准确性。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477000" y="19050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 个人能力成长复盘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477000" y="2667000"/>
            <a:ext cx="4953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6477000" y="2667000"/>
            <a:ext cx="762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31000" y="2857500"/>
            <a:ext cx="355600" cy="3556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7239000" y="2768600"/>
            <a:ext cx="4064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架构认知深化：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深入理解前后端分离架构模式，掌握接口设计规范与数据交互逻辑，建立起系统的整体架构思维，能够独立规划模块与分层。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6477000" y="3937000"/>
            <a:ext cx="4953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6477000" y="3937000"/>
            <a:ext cx="762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731000" y="4127500"/>
            <a:ext cx="355600" cy="355600"/>
          </a:xfrm>
          <a:prstGeom prst="rect">
            <a:avLst/>
          </a:prstGeom>
        </p:spPr>
      </p:pic>
      <p:sp>
        <p:nvSpPr>
          <p:cNvPr id="34" name="AutoShape 34"/>
          <p:cNvSpPr/>
          <p:nvPr/>
        </p:nvSpPr>
        <p:spPr>
          <a:xfrm>
            <a:off x="7239000" y="4038600"/>
            <a:ext cx="4064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工程能力提升：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熟练完成数据库表结构设计与优化，从容应对复杂业务逻辑的拆解与实现，提升了代码的健壮性与可维护性，积累了工程化开发经验。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6477000" y="5143500"/>
            <a:ext cx="4953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/>
        </p:nvSpPr>
        <p:spPr>
          <a:xfrm>
            <a:off x="6477000" y="5143500"/>
            <a:ext cx="762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7" name="Picture 3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731000" y="5334000"/>
            <a:ext cx="355600" cy="355600"/>
          </a:xfrm>
          <a:prstGeom prst="rect">
            <a:avLst/>
          </a:prstGeom>
        </p:spPr>
      </p:pic>
      <p:sp>
        <p:nvSpPr>
          <p:cNvPr id="38" name="AutoShape 38"/>
          <p:cNvSpPr/>
          <p:nvPr/>
        </p:nvSpPr>
        <p:spPr>
          <a:xfrm>
            <a:off x="7239000" y="5245100"/>
            <a:ext cx="4064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解决问题思维：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面对技术难点不再畏缩，学会通过查资料、调试代码、分析日志等方式定位问题，形成了从发现问题到解决问题的完整闭环思维。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总结与展望 - 未来展望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22C55E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378200" cy="3683000"/>
          </a:xfrm>
          <a:prstGeom prst="roundRect">
            <a:avLst>
              <a:gd name="adj" fmla="val 0"/>
            </a:avLst>
          </a:prstGeom>
          <a:solidFill>
            <a:srgbClr val="22C55E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33782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4130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2413000"/>
            <a:ext cx="22352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功能扩展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5211">
            <a:off x="1016014" y="3168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429000"/>
            <a:ext cx="2870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引入微信登录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集成主流社交登录方式，简化注册流程，同时提升账号体系的安全性与便捷性。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4445000"/>
            <a:ext cx="28702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认证与管理升级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对接学校官方系统完成学号认证，杜绝虚假账号；完善后台管理，实现用户分级管理与内容智能审核。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406900" y="2032000"/>
            <a:ext cx="3378200" cy="3683000"/>
          </a:xfrm>
          <a:prstGeom prst="roundRect">
            <a:avLst>
              <a:gd name="adj" fmla="val 0"/>
            </a:avLst>
          </a:prstGeom>
          <a:solidFill>
            <a:srgbClr val="22C55E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406900" y="2032000"/>
            <a:ext cx="33782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900" y="24130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295900" y="2413000"/>
            <a:ext cx="22352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性能优化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5211">
            <a:off x="4660914" y="3168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4660900" y="3429000"/>
            <a:ext cx="2870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通信与资源提速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以WebSocket替代HTTP轮询实现实时通信；引入图片压缩与CDN加速，大幅降低加载耗时。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660900" y="4445000"/>
            <a:ext cx="28702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数据库深度调优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针对高频查询场景添加复合索引，重构复杂查询语句，从底层提升数据读取与处理的响应速度。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051800" y="2032000"/>
            <a:ext cx="3378200" cy="3683000"/>
          </a:xfrm>
          <a:prstGeom prst="roundRect">
            <a:avLst>
              <a:gd name="adj" fmla="val 0"/>
            </a:avLst>
          </a:prstGeom>
          <a:solidFill>
            <a:srgbClr val="22C55E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8051800" y="2032000"/>
            <a:ext cx="33782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05800" y="2413000"/>
            <a:ext cx="457200" cy="4572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8940800" y="2413000"/>
            <a:ext cx="22352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体验提升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15211">
            <a:off x="8305814" y="3168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8305800" y="3429000"/>
            <a:ext cx="2870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个性化智能推荐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基于用户行为与兴趣标签构建推荐模型，精准推送匹配的搭子活动，减少信息筛选成本。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305800" y="4445000"/>
            <a:ext cx="28702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闭环活动评价体系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建立双向用户互评机制，沉淀真实体验反馈，帮助用户决策，同时约束用户行为，净化社区环境。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62000" y="5969000"/>
            <a:ext cx="10668000" cy="508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952500" y="6070600"/>
            <a:ext cx="1028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通过功能、性能与体验的三位一体升级，打造更安全、高效、智能的校园搭子社交生态，持续为用户创造价值。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016000" y="-1016000"/>
            <a:ext cx="3810000" cy="3810000"/>
          </a:xfrm>
          <a:prstGeom prst="ellipse">
            <a:avLst/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2667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778500" y="4191000"/>
            <a:ext cx="635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40,&quot;left&quot;:80,&quot;top&quot;:140,&quot;width&quot;:800}"/>
</p:tagLst>
</file>

<file path=ppt/tags/tag2.xml><?xml version="1.0" encoding="utf-8"?>
<p:tagLst xmlns:p="http://schemas.openxmlformats.org/presentationml/2006/main">
  <p:tag name="KSO_WM_DIAGRAM_VIRTUALLY_FRAME" val="{&quot;height&quot;:340,&quot;left&quot;:80,&quot;top&quot;:140,&quot;width&quot;:800}"/>
</p:tagLst>
</file>

<file path=ppt/tags/tag3.xml><?xml version="1.0" encoding="utf-8"?>
<p:tagLst xmlns:p="http://schemas.openxmlformats.org/presentationml/2006/main">
  <p:tag name="KSO_WM_DIAGRAM_VIRTUALLY_FRAME" val="{&quot;height&quot;:340,&quot;left&quot;:80,&quot;top&quot;:140,&quot;width&quot;:800}"/>
</p:tagLst>
</file>

<file path=ppt/tags/tag4.xml><?xml version="1.0" encoding="utf-8"?>
<p:tagLst xmlns:p="http://schemas.openxmlformats.org/presentationml/2006/main">
  <p:tag name="KSO_WM_DIAGRAM_VIRTUALLY_FRAME" val="{&quot;height&quot;:340,&quot;left&quot;:80,&quot;top&quot;:140,&quot;width&quot;:800}"/>
</p:tagLst>
</file>

<file path=ppt/tags/tag5.xml><?xml version="1.0" encoding="utf-8"?>
<p:tagLst xmlns:p="http://schemas.openxmlformats.org/presentationml/2006/main">
  <p:tag name="KSO_WM_DIAGRAM_VIRTUALLY_FRAME" val="{&quot;height&quot;:350,&quot;left&quot;:60,&quot;top&quot;:140,&quot;width&quot;:820}"/>
</p:tagLst>
</file>

<file path=ppt/tags/tag6.xml><?xml version="1.0" encoding="utf-8"?>
<p:tagLst xmlns:p="http://schemas.openxmlformats.org/presentationml/2006/main">
  <p:tag name="KSO_WM_DIAGRAM_VIRTUALLY_FRAME" val="{&quot;height&quot;:350,&quot;left&quot;:60,&quot;top&quot;:140,&quot;width&quot;:820}"/>
</p:tagLst>
</file>

<file path=ppt/tags/tag7.xml><?xml version="1.0" encoding="utf-8"?>
<p:tagLst xmlns:p="http://schemas.openxmlformats.org/presentationml/2006/main">
  <p:tag name="KSO_WM_DIAGRAM_VIRTUALLY_FRAME" val="{&quot;height&quot;:350,&quot;left&quot;:60,&quot;top&quot;:140,&quot;width&quot;:820}"/>
</p:tagLst>
</file>

<file path=ppt/tags/tag8.xml><?xml version="1.0" encoding="utf-8"?>
<p:tagLst xmlns:p="http://schemas.openxmlformats.org/presentationml/2006/main">
  <p:tag name="KSO_WM_DIAGRAM_VIRTUALLY_FRAME" val="{&quot;height&quot;:350,&quot;left&quot;:60,&quot;top&quot;:140,&quot;width&quot;:82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4230</Words>
  <Application>WPS 演示</Application>
  <PresentationFormat/>
  <Paragraphs>329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26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刘秀娟</cp:lastModifiedBy>
  <cp:revision>2</cp:revision>
  <dcterms:created xsi:type="dcterms:W3CDTF">2026-06-25T11:36:58Z</dcterms:created>
  <dcterms:modified xsi:type="dcterms:W3CDTF">2026-06-25T12:25:56Z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{"Label":"1","ContentProducer":"001191110102MACQD9K64010000","ProduceID":"7655293619876957153","ReservedCode1":"","ContentPropagator":"","PropagateID":"","ReservedCode2":""}</vt:lpwstr>
  </property>
  <property fmtid="{D5CDD505-2E9C-101B-9397-08002B2CF9AE}" pid="3" name="KSOProductBuildVer">
    <vt:lpwstr>2052-12.1.0.26895</vt:lpwstr>
  </property>
  <property fmtid="{D5CDD505-2E9C-101B-9397-08002B2CF9AE}" pid="4" name="ICV">
    <vt:lpwstr>5928050FA3ED43B0B8A082C43A4C25C9_12</vt:lpwstr>
  </property>
</Properties>
</file>